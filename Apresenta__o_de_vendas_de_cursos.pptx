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apresentar o objetivo do material para a equipe de vendas.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por que a demanda de mercado é o argumento central da campanha.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os 6 cursos com maior número de alunos matriculados, com preço e prova social.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 exemplos concretos de como usar o argumento de demanda de mercado na conversa com o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Encerrar reforçando os próximos passos práticos para a equipe de vendas.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7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40000">
                <a:srgbClr val="072754">
                  <a:alpha val="100000"/>
                </a:srgbClr>
              </a:gs>
              <a:gs pos="100000">
                <a:srgbClr val="072754">
                  <a:alpha val="0"/>
                </a:srgbClr>
              </a:gs>
            </a:gsLst>
            <a:lin ang="18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047750" y="3930968"/>
            <a:ext cx="1362075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spc="459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DE VENDAS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1047750" y="4525328"/>
            <a:ext cx="13620750" cy="71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071"/>
              </a:lnSpc>
              <a:buNone/>
            </a:pPr>
            <a:r>
              <a:rPr lang="en-US" sz="5100" b="1" dirty="0">
                <a:solidFill>
                  <a:srgbClr val="FBFC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Clarify Cursos</a:t>
            </a:r>
            <a:endParaRPr lang="en-US" sz="5100" dirty="0"/>
          </a:p>
        </p:txBody>
      </p:sp>
      <p:sp>
        <p:nvSpPr>
          <p:cNvPr id="5" name="Text 3"/>
          <p:cNvSpPr/>
          <p:nvPr/>
        </p:nvSpPr>
        <p:spPr>
          <a:xfrm>
            <a:off x="1047750" y="5472113"/>
            <a:ext cx="8829675" cy="922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E3E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de cursos e argumentos para a abordagem comercial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423160"/>
            <a:ext cx="991171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245B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ARGUMENTO CENTRAL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2896754"/>
            <a:ext cx="8044815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408"/>
              </a:lnSpc>
              <a:buNone/>
            </a:pPr>
            <a:r>
              <a:rPr lang="en-US" sz="5100" b="1" dirty="0">
                <a:solidFill>
                  <a:srgbClr val="16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demanda de mercado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1047750" y="4746860"/>
            <a:ext cx="7652385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2400" dirty="0">
                <a:solidFill>
                  <a:srgbClr val="161B22">
                    <a:alpha val="9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número de alunos já matriculados é a prova mais forte de que um curso vende sozinho. Quando o cliente vê que outras pessoas já confiaram no conteúdo, a decisão de compra fica mais fácil.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47750" y="6860205"/>
            <a:ext cx="765238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2400" dirty="0">
                <a:solidFill>
                  <a:srgbClr val="161B22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essa prova social como abertura da conversa, antes de falar em preço.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058400" y="0"/>
            <a:ext cx="8229600" cy="10287000"/>
          </a:xfrm>
          <a:prstGeom prst="rect">
            <a:avLst/>
          </a:prstGeom>
          <a:solidFill>
            <a:srgbClr val="072754"/>
          </a:solidFill>
          <a:ln/>
        </p:spPr>
      </p:sp>
      <p:sp>
        <p:nvSpPr>
          <p:cNvPr id="7" name="Text 5"/>
          <p:cNvSpPr/>
          <p:nvPr/>
        </p:nvSpPr>
        <p:spPr>
          <a:xfrm>
            <a:off x="12200668" y="3222153"/>
            <a:ext cx="4339438" cy="2402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25"/>
              </a:lnSpc>
              <a:buNone/>
            </a:pPr>
            <a:r>
              <a:rPr lang="en-US" sz="18617" b="1" dirty="0">
                <a:solidFill>
                  <a:srgbClr val="FBFC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484</a:t>
            </a:r>
            <a:endParaRPr lang="en-US" sz="18617" dirty="0"/>
          </a:p>
        </p:txBody>
      </p:sp>
      <p:sp>
        <p:nvSpPr>
          <p:cNvPr id="8" name="Text 6"/>
          <p:cNvSpPr/>
          <p:nvPr/>
        </p:nvSpPr>
        <p:spPr>
          <a:xfrm>
            <a:off x="12112943" y="5704844"/>
            <a:ext cx="4120515" cy="1363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E3ECF9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alunos matriculados somando os 6 cursos mais procurados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3E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245B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EM DESTAQUE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387553"/>
            <a:ext cx="178117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16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6 cursos mais procurados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1047750" y="2377440"/>
            <a:ext cx="5219700" cy="2331720"/>
          </a:xfrm>
          <a:prstGeom prst="roundRect">
            <a:avLst>
              <a:gd name="adj" fmla="val 3268"/>
            </a:avLst>
          </a:prstGeom>
          <a:solidFill>
            <a:srgbClr val="FBFCFD"/>
          </a:solidFill>
          <a:ln/>
        </p:spPr>
      </p:sp>
      <p:sp>
        <p:nvSpPr>
          <p:cNvPr id="5" name="Text 3"/>
          <p:cNvSpPr/>
          <p:nvPr/>
        </p:nvSpPr>
        <p:spPr>
          <a:xfrm>
            <a:off x="1390650" y="2720340"/>
            <a:ext cx="498729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5B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 ALUNOS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90650" y="3112770"/>
            <a:ext cx="49872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651"/>
              </a:lnSpc>
              <a:buNone/>
            </a:pPr>
            <a:r>
              <a:rPr lang="en-US" sz="2250" b="1" dirty="0">
                <a:solidFill>
                  <a:srgbClr val="16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de Computadores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296296" y="3904338"/>
            <a:ext cx="1674490" cy="489505"/>
          </a:xfrm>
          <a:prstGeom prst="roundRect">
            <a:avLst>
              <a:gd name="adj" fmla="val 50000"/>
            </a:avLst>
          </a:prstGeom>
          <a:solidFill>
            <a:srgbClr val="245BAB"/>
          </a:solidFill>
          <a:ln/>
        </p:spPr>
      </p:sp>
      <p:sp>
        <p:nvSpPr>
          <p:cNvPr id="8" name="Text 6"/>
          <p:cNvSpPr/>
          <p:nvPr/>
        </p:nvSpPr>
        <p:spPr>
          <a:xfrm>
            <a:off x="1489521" y="3990216"/>
            <a:ext cx="1364238" cy="355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98" b="1" dirty="0">
                <a:solidFill>
                  <a:srgbClr val="FBFC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R$ 278,95</a:t>
            </a:r>
            <a:endParaRPr lang="en-US" sz="2198" dirty="0"/>
          </a:p>
        </p:txBody>
      </p:sp>
      <p:sp>
        <p:nvSpPr>
          <p:cNvPr id="9" name="Shape 7"/>
          <p:cNvSpPr/>
          <p:nvPr/>
        </p:nvSpPr>
        <p:spPr>
          <a:xfrm>
            <a:off x="6534352" y="2378022"/>
            <a:ext cx="5219295" cy="2331540"/>
          </a:xfrm>
          <a:prstGeom prst="roundRect">
            <a:avLst>
              <a:gd name="adj" fmla="val 3268"/>
            </a:avLst>
          </a:prstGeom>
          <a:solidFill>
            <a:srgbClr val="FBFCFD"/>
          </a:solidFill>
          <a:ln/>
        </p:spPr>
      </p:sp>
      <p:sp>
        <p:nvSpPr>
          <p:cNvPr id="10" name="Text 8"/>
          <p:cNvSpPr/>
          <p:nvPr/>
        </p:nvSpPr>
        <p:spPr>
          <a:xfrm>
            <a:off x="6877226" y="2720896"/>
            <a:ext cx="4986904" cy="297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5B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 ALUNOS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77226" y="3113296"/>
            <a:ext cx="4669556" cy="723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651"/>
              </a:lnSpc>
              <a:buNone/>
            </a:pPr>
            <a:r>
              <a:rPr lang="en-US" sz="2250" b="1" dirty="0">
                <a:solidFill>
                  <a:srgbClr val="16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 Mobile com Flutter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6767731" y="3900373"/>
            <a:ext cx="1704657" cy="498325"/>
          </a:xfrm>
          <a:prstGeom prst="roundRect">
            <a:avLst>
              <a:gd name="adj" fmla="val 50000"/>
            </a:avLst>
          </a:prstGeom>
          <a:solidFill>
            <a:srgbClr val="245BAB"/>
          </a:solidFill>
          <a:ln/>
        </p:spPr>
      </p:sp>
      <p:sp>
        <p:nvSpPr>
          <p:cNvPr id="13" name="Text 11"/>
          <p:cNvSpPr/>
          <p:nvPr/>
        </p:nvSpPr>
        <p:spPr>
          <a:xfrm>
            <a:off x="6964437" y="3987798"/>
            <a:ext cx="1387444" cy="3615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37" b="1" dirty="0">
                <a:solidFill>
                  <a:srgbClr val="FBFC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R$ 298,40</a:t>
            </a:r>
            <a:endParaRPr lang="en-US" sz="2237" dirty="0"/>
          </a:p>
        </p:txBody>
      </p:sp>
      <p:sp>
        <p:nvSpPr>
          <p:cNvPr id="14" name="Shape 12"/>
          <p:cNvSpPr/>
          <p:nvPr/>
        </p:nvSpPr>
        <p:spPr>
          <a:xfrm>
            <a:off x="12021793" y="2381017"/>
            <a:ext cx="5217215" cy="2330611"/>
          </a:xfrm>
          <a:prstGeom prst="roundRect">
            <a:avLst>
              <a:gd name="adj" fmla="val 3268"/>
            </a:avLst>
          </a:prstGeom>
          <a:solidFill>
            <a:srgbClr val="FBFCFD">
              <a:alpha val="99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2364530" y="2723754"/>
            <a:ext cx="4984915" cy="297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99" b="1" dirty="0">
                <a:solidFill>
                  <a:srgbClr val="245BAB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ALUNOS</a:t>
            </a:r>
            <a:endParaRPr lang="en-US" sz="1799" dirty="0"/>
          </a:p>
        </p:txBody>
      </p:sp>
      <p:sp>
        <p:nvSpPr>
          <p:cNvPr id="16" name="Text 14"/>
          <p:cNvSpPr/>
          <p:nvPr/>
        </p:nvSpPr>
        <p:spPr>
          <a:xfrm>
            <a:off x="12364530" y="3115997"/>
            <a:ext cx="4984915" cy="380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651"/>
              </a:lnSpc>
              <a:buNone/>
            </a:pPr>
            <a:r>
              <a:rPr lang="en-US" sz="2249" b="1" dirty="0">
                <a:solidFill>
                  <a:srgbClr val="161B22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Aplicado</a:t>
            </a:r>
            <a:endParaRPr lang="en-US" sz="2249" dirty="0"/>
          </a:p>
        </p:txBody>
      </p:sp>
      <p:sp>
        <p:nvSpPr>
          <p:cNvPr id="17" name="Shape 15"/>
          <p:cNvSpPr/>
          <p:nvPr/>
        </p:nvSpPr>
        <p:spPr>
          <a:xfrm>
            <a:off x="12285072" y="3911529"/>
            <a:ext cx="1643990" cy="480590"/>
          </a:xfrm>
          <a:prstGeom prst="roundRect">
            <a:avLst>
              <a:gd name="adj" fmla="val 50000"/>
            </a:avLst>
          </a:prstGeom>
          <a:solidFill>
            <a:srgbClr val="245BAB">
              <a:alpha val="99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2474779" y="3995843"/>
            <a:ext cx="1340777" cy="350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58" b="1" dirty="0">
                <a:solidFill>
                  <a:srgbClr val="FBFCFD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R$ 641,82</a:t>
            </a:r>
            <a:endParaRPr lang="en-US" sz="2158" dirty="0"/>
          </a:p>
        </p:txBody>
      </p:sp>
      <p:sp>
        <p:nvSpPr>
          <p:cNvPr id="19" name="Shape 17"/>
          <p:cNvSpPr/>
          <p:nvPr/>
        </p:nvSpPr>
        <p:spPr>
          <a:xfrm>
            <a:off x="1051446" y="4986504"/>
            <a:ext cx="5212309" cy="2328418"/>
          </a:xfrm>
          <a:prstGeom prst="roundRect">
            <a:avLst>
              <a:gd name="adj" fmla="val 3268"/>
            </a:avLst>
          </a:prstGeom>
          <a:solidFill>
            <a:srgbClr val="FBFCFD">
              <a:alpha val="9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393860" y="5328918"/>
            <a:ext cx="4980228" cy="296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97" b="1" dirty="0">
                <a:solidFill>
                  <a:srgbClr val="245BAB">
                    <a:alpha val="9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 ALUNOS</a:t>
            </a:r>
            <a:endParaRPr lang="en-US" sz="1797" dirty="0"/>
          </a:p>
        </p:txBody>
      </p:sp>
      <p:sp>
        <p:nvSpPr>
          <p:cNvPr id="21" name="Text 19"/>
          <p:cNvSpPr/>
          <p:nvPr/>
        </p:nvSpPr>
        <p:spPr>
          <a:xfrm>
            <a:off x="1393860" y="5720792"/>
            <a:ext cx="4663304" cy="722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651"/>
              </a:lnSpc>
              <a:buNone/>
            </a:pPr>
            <a:r>
              <a:rPr lang="en-US" sz="2247" b="1" dirty="0">
                <a:solidFill>
                  <a:srgbClr val="161B22">
                    <a:alpha val="9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 Web com HTML e CSS</a:t>
            </a:r>
            <a:endParaRPr lang="en-US" sz="2247" dirty="0"/>
          </a:p>
        </p:txBody>
      </p:sp>
      <p:sp>
        <p:nvSpPr>
          <p:cNvPr id="22" name="Shape 20"/>
          <p:cNvSpPr/>
          <p:nvPr/>
        </p:nvSpPr>
        <p:spPr>
          <a:xfrm>
            <a:off x="1445494" y="6553876"/>
            <a:ext cx="1380410" cy="403537"/>
          </a:xfrm>
          <a:prstGeom prst="roundRect">
            <a:avLst>
              <a:gd name="adj" fmla="val 50000"/>
            </a:avLst>
          </a:prstGeom>
          <a:solidFill>
            <a:srgbClr val="245BAB">
              <a:alpha val="7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604784" y="6624672"/>
            <a:ext cx="1138029" cy="30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12" b="1" dirty="0">
                <a:solidFill>
                  <a:srgbClr val="FBFCFD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R$ 709,03</a:t>
            </a:r>
            <a:endParaRPr lang="en-US" sz="1812" dirty="0"/>
          </a:p>
        </p:txBody>
      </p:sp>
      <p:sp>
        <p:nvSpPr>
          <p:cNvPr id="24" name="Shape 22"/>
          <p:cNvSpPr/>
          <p:nvPr/>
        </p:nvSpPr>
        <p:spPr>
          <a:xfrm>
            <a:off x="6542838" y="5000880"/>
            <a:ext cx="5202324" cy="2323958"/>
          </a:xfrm>
          <a:prstGeom prst="roundRect">
            <a:avLst>
              <a:gd name="adj" fmla="val 3268"/>
            </a:avLst>
          </a:prstGeom>
          <a:solidFill>
            <a:srgbClr val="FBFCFD">
              <a:alpha val="9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884597" y="5342638"/>
            <a:ext cx="4970686" cy="2963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94" b="1" dirty="0">
                <a:solidFill>
                  <a:srgbClr val="245BAB">
                    <a:alpha val="9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 ALUNOS</a:t>
            </a:r>
            <a:endParaRPr lang="en-US" sz="1794" dirty="0"/>
          </a:p>
        </p:txBody>
      </p:sp>
      <p:sp>
        <p:nvSpPr>
          <p:cNvPr id="26" name="Text 24"/>
          <p:cNvSpPr/>
          <p:nvPr/>
        </p:nvSpPr>
        <p:spPr>
          <a:xfrm>
            <a:off x="6884597" y="5733763"/>
            <a:ext cx="4654370" cy="721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651"/>
              </a:lnSpc>
              <a:buNone/>
            </a:pPr>
            <a:r>
              <a:rPr lang="en-US" sz="2243" b="1" dirty="0">
                <a:solidFill>
                  <a:srgbClr val="161B22">
                    <a:alpha val="9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 à Inteligência Artificial</a:t>
            </a:r>
            <a:endParaRPr lang="en-US" sz="2243" dirty="0"/>
          </a:p>
        </p:txBody>
      </p:sp>
      <p:sp>
        <p:nvSpPr>
          <p:cNvPr id="27" name="Shape 25"/>
          <p:cNvSpPr/>
          <p:nvPr/>
        </p:nvSpPr>
        <p:spPr>
          <a:xfrm>
            <a:off x="12039385" y="5030102"/>
            <a:ext cx="5182029" cy="2314892"/>
          </a:xfrm>
          <a:prstGeom prst="roundRect">
            <a:avLst>
              <a:gd name="adj" fmla="val 3268"/>
            </a:avLst>
          </a:prstGeom>
          <a:solidFill>
            <a:srgbClr val="FBFCFD">
              <a:alpha val="8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2379811" y="5370527"/>
            <a:ext cx="4951298" cy="295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87" b="1" dirty="0">
                <a:solidFill>
                  <a:srgbClr val="245BAB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ALUNOS</a:t>
            </a:r>
            <a:endParaRPr lang="en-US" sz="1787" dirty="0"/>
          </a:p>
        </p:txBody>
      </p:sp>
      <p:sp>
        <p:nvSpPr>
          <p:cNvPr id="29" name="Text 27"/>
          <p:cNvSpPr/>
          <p:nvPr/>
        </p:nvSpPr>
        <p:spPr>
          <a:xfrm>
            <a:off x="12379811" y="5760126"/>
            <a:ext cx="4951298" cy="378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651"/>
              </a:lnSpc>
              <a:buNone/>
            </a:pPr>
            <a:r>
              <a:rPr lang="en-US" sz="2234" b="1" dirty="0">
                <a:solidFill>
                  <a:srgbClr val="161B22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 à Ciência de Dados</a:t>
            </a:r>
            <a:endParaRPr lang="en-US" sz="22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27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34400" y="2160270"/>
            <a:ext cx="957643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E3E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PRÁTICA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8534400" y="2633883"/>
            <a:ext cx="957643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BFC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usar isso na abordagem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538193" y="3629447"/>
            <a:ext cx="8698264" cy="1385632"/>
          </a:xfrm>
          <a:prstGeom prst="roundRect">
            <a:avLst>
              <a:gd name="adj" fmla="val 5495"/>
            </a:avLst>
          </a:prstGeom>
          <a:solidFill>
            <a:srgbClr val="184687">
              <a:alpha val="99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842727" y="3895915"/>
            <a:ext cx="8331872" cy="8907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2398" dirty="0">
                <a:solidFill>
                  <a:srgbClr val="FBFCFD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"Este curso já tem </a:t>
            </a:r>
            <a:pPr algn="l" indent="0" marL="0">
              <a:lnSpc>
                <a:spcPct val="124444"/>
              </a:lnSpc>
              <a:buNone/>
            </a:pPr>
            <a:r>
              <a:rPr lang="en-US" sz="2398" b="1" dirty="0">
                <a:solidFill>
                  <a:srgbClr val="072754">
                    <a:alpha val="99000"/>
                  </a:srgbClr>
                </a:solidFill>
                <a:highlight>
                  <a:srgbClr val="E0E9F7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92 alunos </a:t>
            </a:r>
            <a:pPr algn="l" indent="0" marL="0">
              <a:lnSpc>
                <a:spcPct val="124444"/>
              </a:lnSpc>
              <a:buNone/>
            </a:pPr>
            <a:r>
              <a:rPr lang="en-US" sz="2398" dirty="0">
                <a:solidFill>
                  <a:srgbClr val="FBFCFD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matriculados — é um dos mais procurados do nosso catálogo."</a:t>
            </a:r>
            <a:endParaRPr lang="en-US" sz="2398" dirty="0"/>
          </a:p>
        </p:txBody>
      </p:sp>
      <p:sp>
        <p:nvSpPr>
          <p:cNvPr id="6" name="Shape 4"/>
          <p:cNvSpPr/>
          <p:nvPr/>
        </p:nvSpPr>
        <p:spPr>
          <a:xfrm>
            <a:off x="8549049" y="5300553"/>
            <a:ext cx="8676554" cy="1382173"/>
          </a:xfrm>
          <a:prstGeom prst="roundRect">
            <a:avLst>
              <a:gd name="adj" fmla="val 5495"/>
            </a:avLst>
          </a:prstGeom>
          <a:solidFill>
            <a:srgbClr val="184687">
              <a:alpha val="9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852824" y="5566356"/>
            <a:ext cx="8311074" cy="888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2392" dirty="0">
                <a:solidFill>
                  <a:srgbClr val="FBFCFD">
                    <a:alpha val="9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"São </a:t>
            </a:r>
            <a:pPr algn="l" indent="0" marL="0">
              <a:lnSpc>
                <a:spcPct val="124444"/>
              </a:lnSpc>
              <a:buNone/>
            </a:pPr>
            <a:r>
              <a:rPr lang="en-US" sz="2392" b="1" dirty="0">
                <a:solidFill>
                  <a:srgbClr val="072754">
                    <a:alpha val="94000"/>
                  </a:srgbClr>
                </a:solidFill>
                <a:highlight>
                  <a:srgbClr val="D7E1F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80 alunos </a:t>
            </a:r>
            <a:pPr algn="l" indent="0" marL="0">
              <a:lnSpc>
                <a:spcPct val="124444"/>
              </a:lnSpc>
              <a:buNone/>
            </a:pPr>
            <a:r>
              <a:rPr lang="en-US" sz="2392" dirty="0">
                <a:solidFill>
                  <a:srgbClr val="FBFCFD">
                    <a:alpha val="9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já confiando no conteúdo de </a:t>
            </a:r>
            <a:pPr algn="l" indent="0" marL="0">
              <a:lnSpc>
                <a:spcPct val="124444"/>
              </a:lnSpc>
              <a:buNone/>
            </a:pPr>
            <a:r>
              <a:rPr lang="en-US" sz="2392" b="1" dirty="0">
                <a:solidFill>
                  <a:srgbClr val="072754">
                    <a:alpha val="94000"/>
                  </a:srgbClr>
                </a:solidFill>
                <a:highlight>
                  <a:srgbClr val="D7E1F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Aplicado </a:t>
            </a:r>
            <a:pPr algn="l" indent="0" marL="0">
              <a:lnSpc>
                <a:spcPct val="124444"/>
              </a:lnSpc>
              <a:buNone/>
            </a:pPr>
            <a:r>
              <a:rPr lang="en-US" sz="2392" dirty="0">
                <a:solidFill>
                  <a:srgbClr val="FBFCFD">
                    <a:alpha val="9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."</a:t>
            </a:r>
            <a:endParaRPr lang="en-US" sz="2392" dirty="0"/>
          </a:p>
        </p:txBody>
      </p:sp>
      <p:sp>
        <p:nvSpPr>
          <p:cNvPr id="8" name="Shape 6"/>
          <p:cNvSpPr/>
          <p:nvPr/>
        </p:nvSpPr>
        <p:spPr>
          <a:xfrm>
            <a:off x="8581208" y="7006128"/>
            <a:ext cx="8612237" cy="1371928"/>
          </a:xfrm>
          <a:prstGeom prst="roundRect">
            <a:avLst>
              <a:gd name="adj" fmla="val 5495"/>
            </a:avLst>
          </a:prstGeom>
          <a:solidFill>
            <a:srgbClr val="184687">
              <a:alpha val="8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882729" y="7269960"/>
            <a:ext cx="8249468" cy="882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2374" dirty="0">
                <a:solidFill>
                  <a:srgbClr val="FBFCFD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 o cliente hesitar no preço, mostre os números primeiro: alta demanda é prova de qualidade."</a:t>
            </a:r>
            <a:endParaRPr lang="en-US" sz="237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651760"/>
            <a:ext cx="157162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245B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3125352"/>
            <a:ext cx="15716250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16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 próxima abordagem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986106" y="4407391"/>
            <a:ext cx="1056738" cy="595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75" b="1" dirty="0">
                <a:solidFill>
                  <a:srgbClr val="245B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775" dirty="0"/>
          </a:p>
        </p:txBody>
      </p:sp>
      <p:sp>
        <p:nvSpPr>
          <p:cNvPr id="5" name="Text 3"/>
          <p:cNvSpPr/>
          <p:nvPr/>
        </p:nvSpPr>
        <p:spPr>
          <a:xfrm>
            <a:off x="2209800" y="4479200"/>
            <a:ext cx="1021255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2400" dirty="0">
                <a:solidFill>
                  <a:srgbClr val="161B22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Abra a conversa com um dos 6 cursos mais procurados do catálogo.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04642" y="5248516"/>
            <a:ext cx="1019667" cy="574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32" b="1" dirty="0">
                <a:solidFill>
                  <a:srgbClr val="245B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32" dirty="0"/>
          </a:p>
        </p:txBody>
      </p:sp>
      <p:sp>
        <p:nvSpPr>
          <p:cNvPr id="7" name="Text 5"/>
          <p:cNvSpPr/>
          <p:nvPr/>
        </p:nvSpPr>
        <p:spPr>
          <a:xfrm>
            <a:off x="2209800" y="5427281"/>
            <a:ext cx="13157775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2400" dirty="0">
                <a:solidFill>
                  <a:srgbClr val="161B22">
                    <a:alpha val="4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 número de alunos matriculados como prova de demanda antes de falar em preço.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66503" y="6171177"/>
            <a:ext cx="695945" cy="390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86" b="1" dirty="0">
                <a:solidFill>
                  <a:srgbClr val="245BAB">
                    <a:alpha val="33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38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2026-08-17T14:30:40Z</dcterms:created>
  <dcterms:modified xsi:type="dcterms:W3CDTF">2026-08-17T14:30:40Z</dcterms:modified>
</cp:coreProperties>
</file>